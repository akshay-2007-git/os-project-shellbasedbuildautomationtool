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Raleway" pitchFamily="2" charset="0"/>
      <p:regular r:id="rId17"/>
    </p:embeddedFont>
    <p:embeddedFont>
      <p:font typeface="Roboto" panose="02000000000000000000" pitchFamily="2" charset="0"/>
      <p:regular r:id="rId18"/>
      <p:bold r:id="rId19"/>
      <p:italic r:id="rId20"/>
    </p:embeddedFont>
    <p:embeddedFont>
      <p:font typeface="Roboto Bold" panose="02000000000000000000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3957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968" y="489248"/>
            <a:ext cx="4409469" cy="58795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74774"/>
            <a:ext cx="6296860" cy="1015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Shell-Based Build Automation Tool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661475" y="1799332"/>
            <a:ext cx="6906444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Systems Programming Project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61475" y="2197894"/>
            <a:ext cx="6296860" cy="916682"/>
          </a:xfrm>
          <a:prstGeom prst="roundRect">
            <a:avLst>
              <a:gd name="adj" fmla="val 744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0242" y="2366665"/>
            <a:ext cx="595932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Akshay Chandra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30242" y="2704207"/>
            <a:ext cx="5959326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2510080055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61475" y="3254077"/>
            <a:ext cx="6296860" cy="916682"/>
          </a:xfrm>
          <a:prstGeom prst="roundRect">
            <a:avLst>
              <a:gd name="adj" fmla="val 744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0242" y="3422848"/>
            <a:ext cx="595932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Manoj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30242" y="3760391"/>
            <a:ext cx="5959326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2510080052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61475" y="4310261"/>
            <a:ext cx="6296860" cy="916682"/>
          </a:xfrm>
          <a:prstGeom prst="roundRect">
            <a:avLst>
              <a:gd name="adj" fmla="val 744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0242" y="4479032"/>
            <a:ext cx="595932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Balaji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830242" y="4816574"/>
            <a:ext cx="5959326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2510080046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61475" y="5366445"/>
            <a:ext cx="6296860" cy="916682"/>
          </a:xfrm>
          <a:prstGeom prst="roundRect">
            <a:avLst>
              <a:gd name="adj" fmla="val 744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0242" y="5535216"/>
            <a:ext cx="595932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Sai Charan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830242" y="5872758"/>
            <a:ext cx="5959326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2510080053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9383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Problem Statement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1567954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04251" y="1603375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847608" y="1632843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Multiple Source Files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847608" y="2041525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Software projects contain multiple source files and compilation commands that must be coordinated.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233360" y="3024386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4251" y="3059807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847608" y="3089275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Manual Compilation Burden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847608" y="3497957"/>
            <a:ext cx="568261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manual compilation requires users to remember commands, execute manually, manage processes, and handle errors.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233360" y="4783237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04251" y="481865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847608" y="4848126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Our Solution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5847608" y="5256808"/>
            <a:ext cx="568261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are developing a shell-based build automation tool that provides an interactive command environment and forms the foundation for automated compilation and dependency management.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8129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Objectives &amp; Novelty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4442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Objectives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728714"/>
            <a:ext cx="5203794" cy="2881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interactive shell interface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Parse commands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and manage processes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Execute Linux commands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built-in commands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 environment variables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Execute compilation commands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Progress towards dependency-aware build automation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196651" y="2055416"/>
            <a:ext cx="5476043" cy="3621286"/>
          </a:xfrm>
          <a:prstGeom prst="roundRect">
            <a:avLst>
              <a:gd name="adj" fmla="val 3758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385658" y="2244427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Novelty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85658" y="2728714"/>
            <a:ext cx="509802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Weeks 3–5 concepts integrated into one working project instead of isolated programs.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0005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Development Methodology</a:t>
            </a:r>
            <a:endParaRPr lang="en-US" sz="3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268413"/>
            <a:ext cx="10868745" cy="46948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55023" y="4730508"/>
            <a:ext cx="1613822" cy="293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Week 2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3255023" y="5108050"/>
            <a:ext cx="1613822" cy="429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Input handling and foundation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7398903" y="4515610"/>
            <a:ext cx="1613822" cy="293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Week 4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398903" y="4893152"/>
            <a:ext cx="1613822" cy="644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 management integration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88227" y="1692044"/>
            <a:ext cx="1613822" cy="293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Week 1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188227" y="2069587"/>
            <a:ext cx="1613822" cy="429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setup and REPL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404137" y="1692044"/>
            <a:ext cx="1613822" cy="293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Week 5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9404137" y="2069587"/>
            <a:ext cx="1613822" cy="429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Built-ins and environment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352682" y="1692044"/>
            <a:ext cx="1613822" cy="293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Week 3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352682" y="2069587"/>
            <a:ext cx="1613822" cy="429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Command parsing implementation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61475" y="6108998"/>
            <a:ext cx="11478330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Approach: Modular source files, separate headers, incremental testing, and integration of each week's concepts into a cohesive system.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Architecture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26332" y="2783796"/>
            <a:ext cx="5315512" cy="202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Main Modules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221058" y="3406180"/>
            <a:ext cx="5315512" cy="660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Input</a:t>
            </a:r>
            <a:r>
              <a:rPr lang="en-US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Reads user input from the shell prompt</a:t>
            </a:r>
            <a:endParaRPr lang="en-US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Parser</a:t>
            </a:r>
            <a:r>
              <a:rPr lang="en-US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Tokenizes commands using strtok</a:t>
            </a:r>
            <a:endParaRPr lang="en-US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Built-in Commands</a:t>
            </a:r>
            <a:r>
              <a:rPr lang="en-US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Handles internal shell commands directly</a:t>
            </a:r>
            <a:endParaRPr lang="en-US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Process Management</a:t>
            </a:r>
            <a:r>
              <a:rPr lang="en-US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fork(), execvp(), waitpid() lifecycle</a:t>
            </a:r>
            <a:endParaRPr lang="en-US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Build Command</a:t>
            </a:r>
            <a:r>
              <a:rPr lang="en-US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Drives compilation and automation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3936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Implementation: Weeks 3–5</a:t>
            </a:r>
            <a:endParaRPr lang="en-US" sz="3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513483"/>
            <a:ext cx="6296860" cy="144234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9933" y="205740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631909" y="1727895"/>
            <a:ext cx="51120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Week 3 — Parsing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1631909" y="2136577"/>
            <a:ext cx="51120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strtok() tokenization, dynamic argument array, NULL-terminated token list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144838"/>
            <a:ext cx="6296860" cy="1442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9933" y="3688755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631909" y="3359249"/>
            <a:ext cx="51120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Week 4 — Process Control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1631909" y="3767931"/>
            <a:ext cx="51120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fork() creates child, execvp() executes, waitpid() synchronizes, exit status displayed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776192"/>
            <a:ext cx="6296860" cy="144234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19933" y="5320109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631909" y="4990604"/>
            <a:ext cx="51120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Week 5 — Built-ins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1631909" y="5399286"/>
            <a:ext cx="51120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cd, pwd, help, clear, env, exit, build — environment variables via getenv()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Working Demonstration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37395"/>
            <a:ext cx="690326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Example 1: </a:t>
            </a:r>
            <a:r>
              <a:rPr lang="en-US" sz="18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ls</a:t>
            </a: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Command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828032"/>
            <a:ext cx="7512854" cy="308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Parse → fork() → execvp("ls") → waitpid() → </a:t>
            </a: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Process exited with status: 0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325813"/>
            <a:ext cx="690326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Example 2: </a:t>
            </a:r>
            <a:r>
              <a:rPr lang="en-US" sz="18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build gcc test.c -o test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816449"/>
            <a:ext cx="75128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Compilation successful — generated program executable.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61475" y="4331494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B6FCB8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4618236"/>
            <a:ext cx="236234" cy="1890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5723" y="4548783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Demonstrated integration: Parsing → Built-in handling → Process creation → Compilation → Result</a:t>
            </a:r>
            <a:endParaRPr lang="en-US" sz="14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2251" y="2113855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0591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Methodology Evaluation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72171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Tested across command categories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661475" y="2550914"/>
            <a:ext cx="10868745" cy="2032595"/>
          </a:xfrm>
          <a:prstGeom prst="roundRect">
            <a:avLst>
              <a:gd name="adj" fmla="val 390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825" y="2557264"/>
            <a:ext cx="3618616" cy="673298"/>
          </a:xfrm>
          <a:custGeom>
            <a:avLst/>
            <a:gdLst/>
            <a:ahLst/>
            <a:cxnLst/>
            <a:rect l="l" t="t" r="r" b="b"/>
            <a:pathLst>
              <a:path w="3618616" h="673298">
                <a:moveTo>
                  <a:pt x="66156" y="0"/>
                </a:moveTo>
                <a:lnTo>
                  <a:pt x="3618616" y="0"/>
                </a:lnTo>
                <a:lnTo>
                  <a:pt x="3618616" y="673298"/>
                </a:lnTo>
                <a:lnTo>
                  <a:pt x="0" y="673298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6" name="Text 4"/>
          <p:cNvSpPr/>
          <p:nvPr/>
        </p:nvSpPr>
        <p:spPr>
          <a:xfrm>
            <a:off x="856832" y="2746276"/>
            <a:ext cx="32406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pwd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4286440" y="2557264"/>
            <a:ext cx="3618715" cy="673298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8" name="Shape 6"/>
          <p:cNvSpPr/>
          <p:nvPr/>
        </p:nvSpPr>
        <p:spPr>
          <a:xfrm>
            <a:off x="4286440" y="2557264"/>
            <a:ext cx="25399" cy="673298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9" name="Text 7"/>
          <p:cNvSpPr/>
          <p:nvPr/>
        </p:nvSpPr>
        <p:spPr>
          <a:xfrm>
            <a:off x="4475447" y="2746276"/>
            <a:ext cx="324070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cd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7905155" y="2557264"/>
            <a:ext cx="3618715" cy="673298"/>
          </a:xfrm>
          <a:custGeom>
            <a:avLst/>
            <a:gdLst/>
            <a:ahLst/>
            <a:cxnLst/>
            <a:rect l="l" t="t" r="r" b="b"/>
            <a:pathLst>
              <a:path w="3618715" h="673298">
                <a:moveTo>
                  <a:pt x="0" y="0"/>
                </a:moveTo>
                <a:lnTo>
                  <a:pt x="3552558" y="0"/>
                </a:lnTo>
                <a:arcTo wR="66156" hR="66158" stAng="16200000" swAng="5400000"/>
                <a:lnTo>
                  <a:pt x="3618715" y="673298"/>
                </a:lnTo>
                <a:lnTo>
                  <a:pt x="0" y="673298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1" name="Shape 9"/>
          <p:cNvSpPr/>
          <p:nvPr/>
        </p:nvSpPr>
        <p:spPr>
          <a:xfrm>
            <a:off x="7905155" y="2557264"/>
            <a:ext cx="25399" cy="673298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12" name="Text 10"/>
          <p:cNvSpPr/>
          <p:nvPr/>
        </p:nvSpPr>
        <p:spPr>
          <a:xfrm>
            <a:off x="8094162" y="2746276"/>
            <a:ext cx="324070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ls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667825" y="3230563"/>
            <a:ext cx="3618616" cy="673298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825" y="3230563"/>
            <a:ext cx="3618616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5" name="Text 13"/>
          <p:cNvSpPr/>
          <p:nvPr/>
        </p:nvSpPr>
        <p:spPr>
          <a:xfrm>
            <a:off x="856832" y="3419574"/>
            <a:ext cx="32406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ls -l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4286440" y="3230563"/>
            <a:ext cx="3618715" cy="673298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17" name="Shape 15"/>
          <p:cNvSpPr/>
          <p:nvPr/>
        </p:nvSpPr>
        <p:spPr>
          <a:xfrm>
            <a:off x="4286440" y="3230563"/>
            <a:ext cx="25399" cy="673298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18" name="Shape 16"/>
          <p:cNvSpPr/>
          <p:nvPr/>
        </p:nvSpPr>
        <p:spPr>
          <a:xfrm>
            <a:off x="4286440" y="3230563"/>
            <a:ext cx="3618715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9" name="Text 17"/>
          <p:cNvSpPr/>
          <p:nvPr/>
        </p:nvSpPr>
        <p:spPr>
          <a:xfrm>
            <a:off x="4475447" y="3419574"/>
            <a:ext cx="324070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env</a:t>
            </a:r>
            <a:endParaRPr lang="en-US" sz="1850" dirty="0"/>
          </a:p>
        </p:txBody>
      </p:sp>
      <p:sp>
        <p:nvSpPr>
          <p:cNvPr id="20" name="Shape 18"/>
          <p:cNvSpPr/>
          <p:nvPr/>
        </p:nvSpPr>
        <p:spPr>
          <a:xfrm>
            <a:off x="7905155" y="3230563"/>
            <a:ext cx="3618715" cy="673298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21" name="Shape 19"/>
          <p:cNvSpPr/>
          <p:nvPr/>
        </p:nvSpPr>
        <p:spPr>
          <a:xfrm>
            <a:off x="7905155" y="3230563"/>
            <a:ext cx="25399" cy="673298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22" name="Shape 20"/>
          <p:cNvSpPr/>
          <p:nvPr/>
        </p:nvSpPr>
        <p:spPr>
          <a:xfrm>
            <a:off x="7905155" y="3230563"/>
            <a:ext cx="3618715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23" name="Text 21"/>
          <p:cNvSpPr/>
          <p:nvPr/>
        </p:nvSpPr>
        <p:spPr>
          <a:xfrm>
            <a:off x="8094162" y="3419574"/>
            <a:ext cx="324070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help</a:t>
            </a:r>
            <a:endParaRPr lang="en-US" sz="1850" dirty="0"/>
          </a:p>
        </p:txBody>
      </p:sp>
      <p:sp>
        <p:nvSpPr>
          <p:cNvPr id="24" name="Shape 22"/>
          <p:cNvSpPr/>
          <p:nvPr/>
        </p:nvSpPr>
        <p:spPr>
          <a:xfrm>
            <a:off x="667825" y="3903861"/>
            <a:ext cx="3618616" cy="673298"/>
          </a:xfrm>
          <a:custGeom>
            <a:avLst/>
            <a:gdLst/>
            <a:ahLst/>
            <a:cxnLst/>
            <a:rect l="l" t="t" r="r" b="b"/>
            <a:pathLst>
              <a:path w="3618616" h="673298">
                <a:moveTo>
                  <a:pt x="0" y="0"/>
                </a:moveTo>
                <a:lnTo>
                  <a:pt x="3618616" y="0"/>
                </a:lnTo>
                <a:lnTo>
                  <a:pt x="3618616" y="673298"/>
                </a:lnTo>
                <a:lnTo>
                  <a:pt x="66156" y="673298"/>
                </a:lnTo>
                <a:arcTo wR="66156" hR="66158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25" name="Shape 23"/>
          <p:cNvSpPr/>
          <p:nvPr/>
        </p:nvSpPr>
        <p:spPr>
          <a:xfrm>
            <a:off x="667825" y="3903861"/>
            <a:ext cx="3618616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26" name="Text 24"/>
          <p:cNvSpPr/>
          <p:nvPr/>
        </p:nvSpPr>
        <p:spPr>
          <a:xfrm>
            <a:off x="856832" y="4092873"/>
            <a:ext cx="32406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clear</a:t>
            </a:r>
            <a:endParaRPr lang="en-US" sz="1850" dirty="0"/>
          </a:p>
        </p:txBody>
      </p:sp>
      <p:sp>
        <p:nvSpPr>
          <p:cNvPr id="27" name="Shape 25"/>
          <p:cNvSpPr/>
          <p:nvPr/>
        </p:nvSpPr>
        <p:spPr>
          <a:xfrm>
            <a:off x="4286440" y="3903861"/>
            <a:ext cx="3618715" cy="673298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28" name="Shape 26"/>
          <p:cNvSpPr/>
          <p:nvPr/>
        </p:nvSpPr>
        <p:spPr>
          <a:xfrm>
            <a:off x="4286440" y="3903861"/>
            <a:ext cx="25399" cy="673298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29" name="Shape 27"/>
          <p:cNvSpPr/>
          <p:nvPr/>
        </p:nvSpPr>
        <p:spPr>
          <a:xfrm>
            <a:off x="4286440" y="3903861"/>
            <a:ext cx="3618715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30" name="Text 28"/>
          <p:cNvSpPr/>
          <p:nvPr/>
        </p:nvSpPr>
        <p:spPr>
          <a:xfrm>
            <a:off x="4475447" y="4092873"/>
            <a:ext cx="324070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build</a:t>
            </a:r>
            <a:endParaRPr lang="en-US" sz="1850" dirty="0"/>
          </a:p>
        </p:txBody>
      </p:sp>
      <p:sp>
        <p:nvSpPr>
          <p:cNvPr id="31" name="Shape 29"/>
          <p:cNvSpPr/>
          <p:nvPr/>
        </p:nvSpPr>
        <p:spPr>
          <a:xfrm>
            <a:off x="7905155" y="3903861"/>
            <a:ext cx="3618715" cy="673298"/>
          </a:xfrm>
          <a:custGeom>
            <a:avLst/>
            <a:gdLst/>
            <a:ahLst/>
            <a:cxnLst/>
            <a:rect l="l" t="t" r="r" b="b"/>
            <a:pathLst>
              <a:path w="3618715" h="673298">
                <a:moveTo>
                  <a:pt x="0" y="0"/>
                </a:moveTo>
                <a:lnTo>
                  <a:pt x="3618715" y="0"/>
                </a:lnTo>
                <a:lnTo>
                  <a:pt x="3618715" y="607140"/>
                </a:lnTo>
                <a:arcTo wR="66156" hR="66158" stAng="0" swAng="5400000"/>
                <a:lnTo>
                  <a:pt x="0" y="673298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32" name="Shape 30"/>
          <p:cNvSpPr/>
          <p:nvPr/>
        </p:nvSpPr>
        <p:spPr>
          <a:xfrm>
            <a:off x="7905155" y="3903861"/>
            <a:ext cx="25399" cy="673298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33" name="Shape 31"/>
          <p:cNvSpPr/>
          <p:nvPr/>
        </p:nvSpPr>
        <p:spPr>
          <a:xfrm>
            <a:off x="7905155" y="3903861"/>
            <a:ext cx="3618715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34" name="Text 32"/>
          <p:cNvSpPr/>
          <p:nvPr/>
        </p:nvSpPr>
        <p:spPr>
          <a:xfrm>
            <a:off x="8094162" y="4092873"/>
            <a:ext cx="324070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exit</a:t>
            </a:r>
            <a:endParaRPr lang="en-US" sz="1850" dirty="0"/>
          </a:p>
        </p:txBody>
      </p:sp>
      <p:sp>
        <p:nvSpPr>
          <p:cNvPr id="35" name="Shape 33"/>
          <p:cNvSpPr/>
          <p:nvPr/>
        </p:nvSpPr>
        <p:spPr>
          <a:xfrm>
            <a:off x="661475" y="4796135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B6FCB8"/>
          </a:solidFill>
          <a:ln/>
        </p:spPr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5063827"/>
            <a:ext cx="236234" cy="189012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275723" y="5032375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tests successful — Weeks 3–5 concepts operate together within the project rather than as isolated programs.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Adaptability &amp; Future Scope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97282" y="2739058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Adaptability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61475" y="3230662"/>
            <a:ext cx="5315512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Modular architecture allows new functionality — build rules, dependency management, file timestamp checking, automated rebuilding — without redesigning the system.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86830" y="4206551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Accessibility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9017" y="4458401"/>
            <a:ext cx="5925096" cy="124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Command-line based, lightweight, Linux/WSL compatible, open-source, easy to compile with </a:t>
            </a:r>
            <a:r>
              <a:rPr lang="en-US" sz="14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make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86830" y="4871101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Future Direction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1475" y="4046439"/>
            <a:ext cx="5925096" cy="168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058" y="961132"/>
            <a:ext cx="5315512" cy="531564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D3FC04B-B164-8B73-74ED-5D4A50E1EA9B}"/>
              </a:ext>
            </a:extLst>
          </p:cNvPr>
          <p:cNvSpPr txBox="1"/>
          <p:nvPr/>
        </p:nvSpPr>
        <p:spPr>
          <a:xfrm>
            <a:off x="489017" y="5119203"/>
            <a:ext cx="6097554" cy="520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Extend to mini Unix make-like tool with dependency checking and automated rebuild.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89" y="500955"/>
            <a:ext cx="4391808" cy="58559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62285"/>
            <a:ext cx="6296860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</a:t>
            </a:r>
            <a:endParaRPr lang="en-US" sz="3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482923"/>
            <a:ext cx="6296860" cy="16398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40435" y="1688405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Current Achievement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5540435" y="2072878"/>
            <a:ext cx="5784308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Weeks 1–5 integrated into a single working project demonstrating interactive shell, command parsing, process creation, external command execution, built-in commands, environment variables, and compilation.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294459"/>
            <a:ext cx="6296860" cy="10896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540435" y="3499941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Repository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5540435" y="3884414"/>
            <a:ext cx="5784308" cy="294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GitHub: </a:t>
            </a:r>
            <a:r>
              <a:rPr lang="en-US" sz="14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Akshay-2007-git/OS-Project-ShellBasedBuildAutomationTool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4555728"/>
            <a:ext cx="6296860" cy="163988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540435" y="4761210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Final Vision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5540435" y="5145683"/>
            <a:ext cx="5784308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Extend system into mini Unix-style build automation tool capable of identifying required builds and automating compilation based on dependencies.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527</Words>
  <Application>Microsoft Office PowerPoint</Application>
  <PresentationFormat>Widescreen</PresentationFormat>
  <Paragraphs>103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Consolas</vt:lpstr>
      <vt:lpstr>Roboto</vt:lpstr>
      <vt:lpstr>Raleway</vt:lpstr>
      <vt:lpstr>Arial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AKSHAY CHANDRA</cp:lastModifiedBy>
  <cp:revision>2</cp:revision>
  <dcterms:created xsi:type="dcterms:W3CDTF">2026-09-16T15:19:31Z</dcterms:created>
  <dcterms:modified xsi:type="dcterms:W3CDTF">2026-09-18T08:26:22Z</dcterms:modified>
</cp:coreProperties>
</file>