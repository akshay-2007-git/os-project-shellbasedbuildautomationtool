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914400"/>
            <a:ext cx="5486400" cy="5486400"/>
          </a:xfrm>
          <a:prstGeom prst="ellipse">
            <a:avLst/>
          </a:prstGeom>
          <a:solidFill>
            <a:srgbClr val="8B5CF6">
              <a:alpha val="18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0" y="2377440"/>
            <a:ext cx="3657600" cy="3657600"/>
          </a:xfrm>
          <a:prstGeom prst="ellipse">
            <a:avLst/>
          </a:prstGeom>
          <a:solidFill>
            <a:srgbClr val="00E5A0">
              <a:alpha val="15000"/>
            </a:srgbClr>
          </a:solidFill>
          <a:ln w="12700">
            <a:solidFill>
              <a:srgbClr val="00E5A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00" y="3474720"/>
            <a:ext cx="3200400" cy="3200400"/>
          </a:xfrm>
          <a:prstGeom prst="ellipse">
            <a:avLst/>
          </a:prstGeom>
          <a:solidFill>
            <a:srgbClr val="22D3EE">
              <a:alpha val="1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REVIEW  |  OPERATING SYSTEMS &amp; SYSTEMS PROGRAMMING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051560"/>
            <a:ext cx="5669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Shell-Based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Automation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926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 build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3375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|  Linux/WSL  |  POSIX System Calls  |  POSIX Threads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840480"/>
            <a:ext cx="2743200" cy="0"/>
          </a:xfrm>
          <a:prstGeom prst="line">
            <a:avLst/>
          </a:prstGeom>
          <a:noFill/>
          <a:ln w="25400">
            <a:solidFill>
              <a:srgbClr val="00E5A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977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Akshay Chandra 2510080055   |   Manoj 2510080052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Balaji 2510080046   |   Sai Charan 2510080053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463040"/>
            <a:ext cx="3657600" cy="3657600"/>
          </a:xfrm>
          <a:prstGeom prst="ellipse">
            <a:avLst/>
          </a:prstGeom>
          <a:solidFill>
            <a:srgbClr val="8B5CF6">
              <a:alpha val="15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80160" y="3840480"/>
            <a:ext cx="2926080" cy="2926080"/>
          </a:xfrm>
          <a:prstGeom prst="ellipse">
            <a:avLst/>
          </a:prstGeom>
          <a:solidFill>
            <a:srgbClr val="00E5A0">
              <a:alpha val="10000"/>
            </a:srgbClr>
          </a:solidFill>
          <a:ln w="12700">
            <a:solidFill>
              <a:srgbClr val="00E5A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384048"/>
            <a:ext cx="64008" cy="50292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32918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WHY THIS PROJECT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Our Solution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1888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&amp; Systems Programming  |  Shell-Based Build Automation Tool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7680960" y="481888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08</a:t>
            </a:r>
            <a:endParaRPr lang="en-US" sz="900" dirty="0"/>
          </a:p>
        </p:txBody>
      </p:sp>
      <p:sp>
        <p:nvSpPr>
          <p:cNvPr id="9" name="card"/>
          <p:cNvSpPr/>
          <p:nvPr/>
        </p:nvSpPr>
        <p:spPr>
          <a:xfrm>
            <a:off x="457200" y="1234440"/>
            <a:ext cx="3931920" cy="3337560"/>
          </a:xfrm>
          <a:prstGeom prst="roundRect">
            <a:avLst>
              <a:gd name="adj" fmla="val 2192"/>
            </a:avLst>
          </a:prstGeom>
          <a:solidFill>
            <a:srgbClr val="131B36"/>
          </a:solidFill>
          <a:ln w="12700">
            <a:solidFill>
              <a:srgbClr val="2A376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1234440"/>
            <a:ext cx="3657600" cy="3657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1417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178308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manual compile commands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managed by hand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Awkward I/O redirection &amp; piping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must be handled correctly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tasks risk race conditions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4754880" y="1234440"/>
            <a:ext cx="3931920" cy="3337560"/>
          </a:xfrm>
          <a:prstGeom prst="roundRect">
            <a:avLst>
              <a:gd name="adj" fmla="val 2192"/>
            </a:avLst>
          </a:prstGeom>
          <a:solidFill>
            <a:srgbClr val="131B36"/>
          </a:solidFill>
          <a:ln w="12700">
            <a:solidFill>
              <a:srgbClr val="2A376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92040" y="1234440"/>
            <a:ext cx="3657600" cy="36576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983480" y="1417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983480" y="17830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modular tool that combines a Linux shell with core OS concepts.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983480" y="2788920"/>
            <a:ext cx="1069848" cy="365760"/>
          </a:xfrm>
          <a:prstGeom prst="roundRect">
            <a:avLst>
              <a:gd name="adj" fmla="val 50000"/>
            </a:avLst>
          </a:prstGeom>
          <a:solidFill>
            <a:srgbClr val="00E5A0">
              <a:alpha val="15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983480" y="2788920"/>
            <a:ext cx="1069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53912" y="2788920"/>
            <a:ext cx="1069848" cy="365760"/>
          </a:xfrm>
          <a:prstGeom prst="roundRect">
            <a:avLst>
              <a:gd name="adj" fmla="val 50000"/>
            </a:avLst>
          </a:prstGeom>
          <a:solidFill>
            <a:srgbClr val="00E5A0">
              <a:alpha val="15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53912" y="2788920"/>
            <a:ext cx="1069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24344" y="2788920"/>
            <a:ext cx="1069848" cy="365760"/>
          </a:xfrm>
          <a:prstGeom prst="roundRect">
            <a:avLst>
              <a:gd name="adj" fmla="val 50000"/>
            </a:avLst>
          </a:prstGeom>
          <a:solidFill>
            <a:srgbClr val="00E5A0">
              <a:alpha val="15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24344" y="2788920"/>
            <a:ext cx="1069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983480" y="3291840"/>
            <a:ext cx="1069848" cy="365760"/>
          </a:xfrm>
          <a:prstGeom prst="roundRect">
            <a:avLst>
              <a:gd name="adj" fmla="val 50000"/>
            </a:avLst>
          </a:prstGeom>
          <a:solidFill>
            <a:srgbClr val="00E5A0">
              <a:alpha val="15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983480" y="3291840"/>
            <a:ext cx="1069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Redirection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53912" y="3291840"/>
            <a:ext cx="1069848" cy="365760"/>
          </a:xfrm>
          <a:prstGeom prst="roundRect">
            <a:avLst>
              <a:gd name="adj" fmla="val 50000"/>
            </a:avLst>
          </a:prstGeom>
          <a:solidFill>
            <a:srgbClr val="00E5A0">
              <a:alpha val="15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153912" y="3291840"/>
            <a:ext cx="1069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324344" y="3291840"/>
            <a:ext cx="1069848" cy="365760"/>
          </a:xfrm>
          <a:prstGeom prst="roundRect">
            <a:avLst>
              <a:gd name="adj" fmla="val 50000"/>
            </a:avLst>
          </a:prstGeom>
          <a:solidFill>
            <a:srgbClr val="00E5A0">
              <a:alpha val="15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324344" y="3291840"/>
            <a:ext cx="1069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Mutex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983480" y="38404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integrate OS concepts into one practical tool, not isolated programs.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463040"/>
            <a:ext cx="3657600" cy="3657600"/>
          </a:xfrm>
          <a:prstGeom prst="ellipse">
            <a:avLst/>
          </a:prstGeom>
          <a:solidFill>
            <a:srgbClr val="8B5CF6">
              <a:alpha val="15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80160" y="3840480"/>
            <a:ext cx="2926080" cy="2926080"/>
          </a:xfrm>
          <a:prstGeom prst="ellipse">
            <a:avLst/>
          </a:prstGeom>
          <a:solidFill>
            <a:srgbClr val="00E5A0">
              <a:alpha val="10000"/>
            </a:srgbClr>
          </a:solidFill>
          <a:ln w="12700">
            <a:solidFill>
              <a:srgbClr val="00E5A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384048"/>
            <a:ext cx="64008" cy="50292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32918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HOW IT FITS TOGETHER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1888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&amp; Systems Programming  |  Shell-Based Build Automation Tool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7680960" y="481888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08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97280" y="118872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22D3EE">
              <a:alpha val="20000"/>
            </a:srgbClr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97280" y="11887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834640" y="118872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22D3EE">
              <a:alpha val="20000"/>
            </a:srgbClr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834640" y="11887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Shell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118872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22D3EE">
              <a:alpha val="20000"/>
            </a:srgbClr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0" y="11887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Handling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09360" y="118872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22D3EE">
              <a:alpha val="20000"/>
            </a:srgbClr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09360" y="11887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Parser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114800" y="16824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737360" y="192024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8B5CF6">
              <a:alpha val="20000"/>
            </a:srgbClr>
          </a:solidFill>
          <a:ln w="15875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737360" y="1920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749040" y="192024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8B5CF6">
              <a:alpha val="20000"/>
            </a:srgbClr>
          </a:solidFill>
          <a:ln w="15875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749040" y="1920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760720" y="192024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8B5CF6">
              <a:alpha val="20000"/>
            </a:srgbClr>
          </a:solidFill>
          <a:ln w="15875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760720" y="1920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I/O Redirection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114800" y="241401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737360" y="2670048"/>
            <a:ext cx="3840480" cy="502920"/>
          </a:xfrm>
          <a:prstGeom prst="roundRect">
            <a:avLst>
              <a:gd name="adj" fmla="val 10909"/>
            </a:avLst>
          </a:prstGeom>
          <a:solidFill>
            <a:srgbClr val="00E5A0">
              <a:alpha val="20000"/>
            </a:srgbClr>
          </a:solidFill>
          <a:ln w="15875">
            <a:solidFill>
              <a:srgbClr val="00E5A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737360" y="267004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Mgmt: fork() execvp() waitpid()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760720" y="2670048"/>
            <a:ext cx="1645920" cy="502920"/>
          </a:xfrm>
          <a:prstGeom prst="roundRect">
            <a:avLst>
              <a:gd name="adj" fmla="val 10909"/>
            </a:avLst>
          </a:prstGeom>
          <a:solidFill>
            <a:srgbClr val="FBBF24">
              <a:alpha val="20000"/>
            </a:srgbClr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760720" y="267004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Handling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114800" y="32004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737360" y="3456432"/>
            <a:ext cx="5669280" cy="457200"/>
          </a:xfrm>
          <a:prstGeom prst="roundRect">
            <a:avLst>
              <a:gd name="adj" fmla="val 12000"/>
            </a:avLst>
          </a:prstGeom>
          <a:solidFill>
            <a:srgbClr val="00E5A0">
              <a:alpha val="20000"/>
            </a:srgbClr>
          </a:solidFill>
          <a:ln w="15875">
            <a:solidFill>
              <a:srgbClr val="00E5A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737360" y="345643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Automation  (POSIX Threads)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737360" y="406908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22D3EE">
              <a:alpha val="20000"/>
            </a:srgbClr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737360" y="4069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Thread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54880" y="406908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22D3EE">
              <a:alpha val="20000"/>
            </a:srgbClr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754880" y="4069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Thread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2834640" y="39136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37" name="Text 35"/>
          <p:cNvSpPr txBox="1"/>
          <p:nvPr/>
        </p:nvSpPr>
        <p:spPr>
          <a:xfrm>
            <a:off x="5852160" y="39136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38" name="Text 36"/>
          <p:cNvSpPr txBox="1"/>
          <p:nvPr/>
        </p:nvSpPr>
        <p:spPr>
          <a:xfrm>
            <a:off x="7680960" y="1920240"/>
            <a:ext cx="1097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files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headers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 / WSL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463040"/>
            <a:ext cx="3657600" cy="3657600"/>
          </a:xfrm>
          <a:prstGeom prst="ellipse">
            <a:avLst/>
          </a:prstGeom>
          <a:solidFill>
            <a:srgbClr val="8B5CF6">
              <a:alpha val="15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80160" y="3840480"/>
            <a:ext cx="2926080" cy="2926080"/>
          </a:xfrm>
          <a:prstGeom prst="ellipse">
            <a:avLst/>
          </a:prstGeom>
          <a:solidFill>
            <a:srgbClr val="00E5A0">
              <a:alpha val="10000"/>
            </a:srgbClr>
          </a:solidFill>
          <a:ln w="12700">
            <a:solidFill>
              <a:srgbClr val="00E5A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384048"/>
            <a:ext cx="64008" cy="50292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32918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10 WEEKS, ONE PROJECT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Journey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1888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&amp; Systems Programming  |  Shell-Based Build Automation Tool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7680960" y="481888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08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22960" y="1856232"/>
            <a:ext cx="7498080" cy="0"/>
          </a:xfrm>
          <a:prstGeom prst="line">
            <a:avLst/>
          </a:prstGeom>
          <a:noFill/>
          <a:ln w="25400">
            <a:solidFill>
              <a:srgbClr val="2A376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1600200"/>
            <a:ext cx="512064" cy="512064"/>
          </a:xfrm>
          <a:prstGeom prst="ellipse">
            <a:avLst/>
          </a:prstGeom>
          <a:solidFill>
            <a:srgbClr val="0B1020"/>
          </a:solidFill>
          <a:ln w="3175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16002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" y="222199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setup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REPL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06040" y="1600200"/>
            <a:ext cx="512064" cy="512064"/>
          </a:xfrm>
          <a:prstGeom prst="ellipse">
            <a:avLst/>
          </a:prstGeom>
          <a:solidFill>
            <a:srgbClr val="0B1020"/>
          </a:solidFill>
          <a:ln w="3175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606040" y="16002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130552" y="222199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89120" y="1600200"/>
            <a:ext cx="512064" cy="512064"/>
          </a:xfrm>
          <a:prstGeom prst="ellipse">
            <a:avLst/>
          </a:prstGeom>
          <a:solidFill>
            <a:srgbClr val="0B1020"/>
          </a:solidFill>
          <a:ln w="31750">
            <a:solidFill>
              <a:srgbClr val="22D3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89120" y="16002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913632" y="222199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72200" y="1600200"/>
            <a:ext cx="512064" cy="512064"/>
          </a:xfrm>
          <a:prstGeom prst="ellipse">
            <a:avLst/>
          </a:prstGeom>
          <a:solidFill>
            <a:srgbClr val="0B1020"/>
          </a:solidFill>
          <a:ln w="3175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72200" y="16002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696712" y="222199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955280" y="1600200"/>
            <a:ext cx="512064" cy="512064"/>
          </a:xfrm>
          <a:prstGeom prst="ellipse">
            <a:avLst/>
          </a:prstGeom>
          <a:solidFill>
            <a:srgbClr val="0B1020"/>
          </a:solidFill>
          <a:ln w="31750">
            <a:solidFill>
              <a:srgbClr val="22D3E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955280" y="16002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479792" y="222199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Built-ins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22960" y="3227832"/>
            <a:ext cx="7498080" cy="0"/>
          </a:xfrm>
          <a:prstGeom prst="line">
            <a:avLst/>
          </a:prstGeom>
          <a:noFill/>
          <a:ln w="25400">
            <a:solidFill>
              <a:srgbClr val="2A376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" y="2971800"/>
            <a:ext cx="512064" cy="512064"/>
          </a:xfrm>
          <a:prstGeom prst="ellipse">
            <a:avLst/>
          </a:prstGeom>
          <a:solidFill>
            <a:srgbClr val="0B1020"/>
          </a:solidFill>
          <a:ln w="3175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2960" y="29718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347472" y="359359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606040" y="2971800"/>
            <a:ext cx="512064" cy="512064"/>
          </a:xfrm>
          <a:prstGeom prst="ellipse">
            <a:avLst/>
          </a:prstGeom>
          <a:solidFill>
            <a:srgbClr val="0B1020"/>
          </a:solidFill>
          <a:ln w="31750">
            <a:solidFill>
              <a:srgbClr val="8B5CF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606040" y="29718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2130552" y="359359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389120" y="2971800"/>
            <a:ext cx="512064" cy="512064"/>
          </a:xfrm>
          <a:prstGeom prst="ellipse">
            <a:avLst/>
          </a:prstGeom>
          <a:solidFill>
            <a:srgbClr val="0B1020"/>
          </a:solidFill>
          <a:ln w="31750">
            <a:solidFill>
              <a:srgbClr val="8B5CF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389120" y="29718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3913632" y="359359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72200" y="2971800"/>
            <a:ext cx="512064" cy="512064"/>
          </a:xfrm>
          <a:prstGeom prst="ellipse">
            <a:avLst/>
          </a:prstGeom>
          <a:solidFill>
            <a:srgbClr val="0B1020"/>
          </a:solidFill>
          <a:ln w="31750">
            <a:solidFill>
              <a:srgbClr val="8B5CF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172200" y="29718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5696712" y="359359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955280" y="2971800"/>
            <a:ext cx="512064" cy="512064"/>
          </a:xfrm>
          <a:prstGeom prst="ellipse">
            <a:avLst/>
          </a:prstGeom>
          <a:solidFill>
            <a:srgbClr val="0B1020"/>
          </a:solidFill>
          <a:ln w="31750">
            <a:solidFill>
              <a:srgbClr val="00E5A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955280" y="29718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7479792" y="359359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POSIX threads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sync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463040" y="4297680"/>
            <a:ext cx="6217920" cy="384048"/>
          </a:xfrm>
          <a:prstGeom prst="roundRect">
            <a:avLst>
              <a:gd name="adj" fmla="val 47619"/>
            </a:avLst>
          </a:prstGeom>
          <a:solidFill>
            <a:srgbClr val="00E5A0">
              <a:alpha val="12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463040" y="4297680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 →  Implementation  →  Testing  →  Integration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463040"/>
            <a:ext cx="3657600" cy="3657600"/>
          </a:xfrm>
          <a:prstGeom prst="ellipse">
            <a:avLst/>
          </a:prstGeom>
          <a:solidFill>
            <a:srgbClr val="8B5CF6">
              <a:alpha val="15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80160" y="3840480"/>
            <a:ext cx="2926080" cy="2926080"/>
          </a:xfrm>
          <a:prstGeom prst="ellipse">
            <a:avLst/>
          </a:prstGeom>
          <a:solidFill>
            <a:srgbClr val="00E5A0">
              <a:alpha val="10000"/>
            </a:srgbClr>
          </a:solidFill>
          <a:ln w="12700">
            <a:solidFill>
              <a:srgbClr val="00E5A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384048"/>
            <a:ext cx="64008" cy="50292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32918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WHAT IT CAN DO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Shell &amp; OS Features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1888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&amp; Systems Programming  |  Shell-Based Build Automation Tool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7680960" y="481888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08</a:t>
            </a:r>
            <a:endParaRPr lang="en-US" sz="900" dirty="0"/>
          </a:p>
        </p:txBody>
      </p:sp>
      <p:sp>
        <p:nvSpPr>
          <p:cNvPr id="9" name="feat0"/>
          <p:cNvSpPr/>
          <p:nvPr/>
        </p:nvSpPr>
        <p:spPr>
          <a:xfrm>
            <a:off x="457200" y="123444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131B36"/>
          </a:solidFill>
          <a:ln w="12700">
            <a:solidFill>
              <a:srgbClr val="2A376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1234440"/>
            <a:ext cx="2377440" cy="3657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Shell &amp; Parsing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17373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loop; strtok() builds NULL-terminated args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331720"/>
            <a:ext cx="2286000" cy="329184"/>
          </a:xfrm>
          <a:prstGeom prst="roundRect">
            <a:avLst>
              <a:gd name="adj" fmla="val 13889"/>
            </a:avLst>
          </a:prstGeom>
          <a:solidFill>
            <a:srgbClr val="0B1020"/>
          </a:solidFill>
          <a:ln w="12700">
            <a:solidFill>
              <a:srgbClr val="2A376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233172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myshell&gt; ls -l</a:t>
            </a:r>
            <a:endParaRPr lang="en-US" sz="950" dirty="0"/>
          </a:p>
        </p:txBody>
      </p:sp>
      <p:sp>
        <p:nvSpPr>
          <p:cNvPr id="15" name="feat1"/>
          <p:cNvSpPr/>
          <p:nvPr/>
        </p:nvSpPr>
        <p:spPr>
          <a:xfrm>
            <a:off x="3246120" y="123444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131B36"/>
          </a:solidFill>
          <a:ln w="12700">
            <a:solidFill>
              <a:srgbClr val="2A376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83280" y="1234440"/>
            <a:ext cx="2377440" cy="36576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29000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Mgmt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429000" y="17373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per command, parent waits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29000" y="2331720"/>
            <a:ext cx="2286000" cy="329184"/>
          </a:xfrm>
          <a:prstGeom prst="roundRect">
            <a:avLst>
              <a:gd name="adj" fmla="val 13889"/>
            </a:avLst>
          </a:prstGeom>
          <a:solidFill>
            <a:srgbClr val="0B1020"/>
          </a:solidFill>
          <a:ln w="12700">
            <a:solidFill>
              <a:srgbClr val="2A376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429000" y="233172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fork() execvp() waitpid()</a:t>
            </a:r>
            <a:endParaRPr lang="en-US" sz="950" dirty="0"/>
          </a:p>
        </p:txBody>
      </p:sp>
      <p:sp>
        <p:nvSpPr>
          <p:cNvPr id="21" name="feat2"/>
          <p:cNvSpPr/>
          <p:nvPr/>
        </p:nvSpPr>
        <p:spPr>
          <a:xfrm>
            <a:off x="6035040" y="123444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131B36"/>
          </a:solidFill>
          <a:ln w="12700">
            <a:solidFill>
              <a:srgbClr val="2A376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72200" y="1234440"/>
            <a:ext cx="2377440" cy="3657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17920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217920" y="17373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inside the shell itself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17920" y="2331720"/>
            <a:ext cx="2286000" cy="329184"/>
          </a:xfrm>
          <a:prstGeom prst="roundRect">
            <a:avLst>
              <a:gd name="adj" fmla="val 13889"/>
            </a:avLst>
          </a:prstGeom>
          <a:solidFill>
            <a:srgbClr val="0B1020"/>
          </a:solidFill>
          <a:ln w="12700">
            <a:solidFill>
              <a:srgbClr val="2A376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17920" y="233172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pwd help clear env exit build</a:t>
            </a:r>
            <a:endParaRPr lang="en-US" sz="950" dirty="0"/>
          </a:p>
        </p:txBody>
      </p:sp>
      <p:sp>
        <p:nvSpPr>
          <p:cNvPr id="27" name="feat3"/>
          <p:cNvSpPr/>
          <p:nvPr/>
        </p:nvSpPr>
        <p:spPr>
          <a:xfrm>
            <a:off x="457200" y="297180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131B36"/>
          </a:solidFill>
          <a:ln w="12700">
            <a:solidFill>
              <a:srgbClr val="2A376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" y="2971800"/>
            <a:ext cx="2377440" cy="3657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0080" y="3154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Handling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34747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signals; children restore defaults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0080" y="4069080"/>
            <a:ext cx="2286000" cy="329184"/>
          </a:xfrm>
          <a:prstGeom prst="roundRect">
            <a:avLst>
              <a:gd name="adj" fmla="val 13889"/>
            </a:avLst>
          </a:prstGeom>
          <a:solidFill>
            <a:srgbClr val="0B1020"/>
          </a:solidFill>
          <a:ln w="12700">
            <a:solidFill>
              <a:srgbClr val="2A376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0080" y="406908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SIGINT  SIGCHLD</a:t>
            </a:r>
            <a:endParaRPr lang="en-US" sz="950" dirty="0"/>
          </a:p>
        </p:txBody>
      </p:sp>
      <p:sp>
        <p:nvSpPr>
          <p:cNvPr id="33" name="feat4"/>
          <p:cNvSpPr/>
          <p:nvPr/>
        </p:nvSpPr>
        <p:spPr>
          <a:xfrm>
            <a:off x="3246120" y="297180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131B36"/>
          </a:solidFill>
          <a:ln w="12700">
            <a:solidFill>
              <a:srgbClr val="2A376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383280" y="2971800"/>
            <a:ext cx="2377440" cy="3657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429000" y="3154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Pipes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3429000" y="34747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of one process feeds the next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429000" y="4069080"/>
            <a:ext cx="2286000" cy="329184"/>
          </a:xfrm>
          <a:prstGeom prst="roundRect">
            <a:avLst>
              <a:gd name="adj" fmla="val 13889"/>
            </a:avLst>
          </a:prstGeom>
          <a:solidFill>
            <a:srgbClr val="0B1020"/>
          </a:solidFill>
          <a:ln w="12700">
            <a:solidFill>
              <a:srgbClr val="2A376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429000" y="406908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 | grep .c</a:t>
            </a:r>
            <a:endParaRPr lang="en-US" sz="950" dirty="0"/>
          </a:p>
        </p:txBody>
      </p:sp>
      <p:sp>
        <p:nvSpPr>
          <p:cNvPr id="39" name="feat5"/>
          <p:cNvSpPr/>
          <p:nvPr/>
        </p:nvSpPr>
        <p:spPr>
          <a:xfrm>
            <a:off x="6035040" y="297180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131B36"/>
          </a:solidFill>
          <a:ln w="12700">
            <a:solidFill>
              <a:srgbClr val="2A376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72200" y="2971800"/>
            <a:ext cx="2377440" cy="36576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217920" y="3154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I/O Redirection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6217920" y="34747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replace stdin / stdout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217920" y="4069080"/>
            <a:ext cx="2286000" cy="329184"/>
          </a:xfrm>
          <a:prstGeom prst="roundRect">
            <a:avLst>
              <a:gd name="adj" fmla="val 13889"/>
            </a:avLst>
          </a:prstGeom>
          <a:solidFill>
            <a:srgbClr val="0B1020"/>
          </a:solidFill>
          <a:ln w="12700">
            <a:solidFill>
              <a:srgbClr val="2A376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217920" y="406908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output.txt  &lt; in  &gt;&gt;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463040"/>
            <a:ext cx="3657600" cy="3657600"/>
          </a:xfrm>
          <a:prstGeom prst="ellipse">
            <a:avLst/>
          </a:prstGeom>
          <a:solidFill>
            <a:srgbClr val="8B5CF6">
              <a:alpha val="15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80160" y="3840480"/>
            <a:ext cx="2926080" cy="2926080"/>
          </a:xfrm>
          <a:prstGeom prst="ellipse">
            <a:avLst/>
          </a:prstGeom>
          <a:solidFill>
            <a:srgbClr val="00E5A0">
              <a:alpha val="10000"/>
            </a:srgbClr>
          </a:solidFill>
          <a:ln w="12700">
            <a:solidFill>
              <a:srgbClr val="00E5A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384048"/>
            <a:ext cx="64008" cy="50292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32918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WEEK 10 HIGHLIGHT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Multithreading &amp; Synchronization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1888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&amp; Systems Programming  |  Shell-Based Build Automation Tool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7680960" y="481888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08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737360" y="1188720"/>
            <a:ext cx="2377440" cy="457200"/>
          </a:xfrm>
          <a:prstGeom prst="roundRect">
            <a:avLst>
              <a:gd name="adj" fmla="val 16000"/>
            </a:avLst>
          </a:prstGeom>
          <a:solidFill>
            <a:srgbClr val="8B5CF6">
              <a:alpha val="20000"/>
            </a:srgbClr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737360" y="1188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 (command)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737360" y="16916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        ▼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965960"/>
            <a:ext cx="2194560" cy="822960"/>
          </a:xfrm>
          <a:prstGeom prst="roundRect">
            <a:avLst>
              <a:gd name="adj" fmla="val 8889"/>
            </a:avLst>
          </a:prstGeom>
          <a:solidFill>
            <a:srgbClr val="22D3EE">
              <a:alpha val="20000"/>
            </a:srgbClr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19659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Thread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the build task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1965960"/>
            <a:ext cx="2194560" cy="822960"/>
          </a:xfrm>
          <a:prstGeom prst="roundRect">
            <a:avLst>
              <a:gd name="adj" fmla="val 8889"/>
            </a:avLst>
          </a:prstGeom>
          <a:solidFill>
            <a:srgbClr val="00E5A0">
              <a:alpha val="20000"/>
            </a:srgbClr>
          </a:solidFill>
          <a:ln w="19050">
            <a:solidFill>
              <a:srgbClr val="00E5A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200400" y="19659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Thread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 build status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737360" y="28346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        ▼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108960"/>
            <a:ext cx="4937760" cy="685800"/>
          </a:xfrm>
          <a:prstGeom prst="roundRect">
            <a:avLst>
              <a:gd name="adj" fmla="val 10667"/>
            </a:avLst>
          </a:prstGeom>
          <a:solidFill>
            <a:srgbClr val="FBBF24">
              <a:alpha val="20000"/>
            </a:srgbClr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310896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build status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protected by MUTEX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0233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pthread_create()  →  lock / unlock  →  pthread_join()</a:t>
            </a:r>
            <a:endParaRPr lang="en-US" sz="1000" dirty="0"/>
          </a:p>
        </p:txBody>
      </p:sp>
      <p:sp>
        <p:nvSpPr>
          <p:cNvPr id="20" name="card"/>
          <p:cNvSpPr/>
          <p:nvPr/>
        </p:nvSpPr>
        <p:spPr>
          <a:xfrm>
            <a:off x="5760720" y="1188720"/>
            <a:ext cx="2926080" cy="3383280"/>
          </a:xfrm>
          <a:prstGeom prst="roundRect">
            <a:avLst>
              <a:gd name="adj" fmla="val 2500"/>
            </a:avLst>
          </a:prstGeom>
          <a:solidFill>
            <a:srgbClr val="131B36"/>
          </a:solidFill>
          <a:ln w="12700">
            <a:solidFill>
              <a:srgbClr val="2A376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97880" y="1188720"/>
            <a:ext cx="2651760" cy="36576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89320" y="1371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 MUTEX?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989320" y="1783080"/>
            <a:ext cx="2514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threads touch the same status variable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= only one thread in the critical section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race conditions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pthread_join() waits for clean completion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463040"/>
            <a:ext cx="3657600" cy="3657600"/>
          </a:xfrm>
          <a:prstGeom prst="ellipse">
            <a:avLst/>
          </a:prstGeom>
          <a:solidFill>
            <a:srgbClr val="8B5CF6">
              <a:alpha val="15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80160" y="3840480"/>
            <a:ext cx="2926080" cy="2926080"/>
          </a:xfrm>
          <a:prstGeom prst="ellipse">
            <a:avLst/>
          </a:prstGeom>
          <a:solidFill>
            <a:srgbClr val="00E5A0">
              <a:alpha val="10000"/>
            </a:srgbClr>
          </a:solidFill>
          <a:ln w="12700">
            <a:solidFill>
              <a:srgbClr val="00E5A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384048"/>
            <a:ext cx="64008" cy="50292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32918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PROOF IT WORKS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Output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1888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&amp; Systems Programming  |  Shell-Based Build Automation Tool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7680960" y="481888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08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5212080" cy="3429000"/>
          </a:xfrm>
          <a:prstGeom prst="roundRect">
            <a:avLst>
              <a:gd name="adj" fmla="val 2133"/>
            </a:avLst>
          </a:prstGeom>
          <a:solidFill>
            <a:srgbClr val="070B16"/>
          </a:solidFill>
          <a:ln w="15875">
            <a:solidFill>
              <a:srgbClr val="2A376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30759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130759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9264" y="130759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280160" y="12801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akshay@laptop: ~/OS-Project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1645920"/>
            <a:ext cx="4846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run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myshell&gt; build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[Build] Build task started.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[Monitor] Build is running...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[Build] Compiling project files...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[Monitor] Build is running...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[Build] Linking project...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[Monitor] Build is running...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[Build] Build task completed successfully.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myshell&gt; exit</a:t>
            </a:r>
            <a:endParaRPr lang="en-US" sz="1050" dirty="0"/>
          </a:p>
        </p:txBody>
      </p:sp>
      <p:sp>
        <p:nvSpPr>
          <p:cNvPr id="15" name="call0"/>
          <p:cNvSpPr/>
          <p:nvPr/>
        </p:nvSpPr>
        <p:spPr>
          <a:xfrm>
            <a:off x="5897880" y="11887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131B36"/>
          </a:solidFill>
          <a:ln w="12700">
            <a:solidFill>
              <a:srgbClr val="2A376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1188720"/>
            <a:ext cx="2514600" cy="3657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080760" y="1371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thread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080760" y="1691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Compiles, then links the project</a:t>
            </a:r>
            <a:endParaRPr lang="en-US" sz="1100" dirty="0"/>
          </a:p>
        </p:txBody>
      </p:sp>
      <p:sp>
        <p:nvSpPr>
          <p:cNvPr id="19" name="call1"/>
          <p:cNvSpPr/>
          <p:nvPr/>
        </p:nvSpPr>
        <p:spPr>
          <a:xfrm>
            <a:off x="5897880" y="2359152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131B36"/>
          </a:solidFill>
          <a:ln w="12700">
            <a:solidFill>
              <a:srgbClr val="2A376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35040" y="2359152"/>
            <a:ext cx="2514600" cy="3657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080760" y="25420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thread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080760" y="286207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status while build runs</a:t>
            </a:r>
            <a:endParaRPr lang="en-US" sz="1100" dirty="0"/>
          </a:p>
        </p:txBody>
      </p:sp>
      <p:sp>
        <p:nvSpPr>
          <p:cNvPr id="23" name="call2"/>
          <p:cNvSpPr/>
          <p:nvPr/>
        </p:nvSpPr>
        <p:spPr>
          <a:xfrm>
            <a:off x="5897880" y="3529584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131B36"/>
          </a:solidFill>
          <a:ln w="12700">
            <a:solidFill>
              <a:srgbClr val="2A376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35040" y="3529584"/>
            <a:ext cx="2514600" cy="36576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080760" y="37124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080760" y="403250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threads finish and join cleanly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463040"/>
            <a:ext cx="3657600" cy="3657600"/>
          </a:xfrm>
          <a:prstGeom prst="ellipse">
            <a:avLst/>
          </a:prstGeom>
          <a:solidFill>
            <a:srgbClr val="8B5CF6">
              <a:alpha val="15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80160" y="3840480"/>
            <a:ext cx="2926080" cy="2926080"/>
          </a:xfrm>
          <a:prstGeom prst="ellipse">
            <a:avLst/>
          </a:prstGeom>
          <a:solidFill>
            <a:srgbClr val="00E5A0">
              <a:alpha val="10000"/>
            </a:srgbClr>
          </a:solidFill>
          <a:ln w="12700">
            <a:solidFill>
              <a:srgbClr val="00E5A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384048"/>
            <a:ext cx="64008" cy="50292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32918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WHERE NEXT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 &amp; Conclusion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1888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&amp; Systems Programming  |  Shell-Based Build Automation Tool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7680960" y="481888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08</a:t>
            </a:r>
            <a:endParaRPr lang="en-US" sz="900" dirty="0"/>
          </a:p>
        </p:txBody>
      </p:sp>
      <p:sp>
        <p:nvSpPr>
          <p:cNvPr id="9" name="card"/>
          <p:cNvSpPr/>
          <p:nvPr/>
        </p:nvSpPr>
        <p:spPr>
          <a:xfrm>
            <a:off x="457200" y="1188720"/>
            <a:ext cx="3931920" cy="3383280"/>
          </a:xfrm>
          <a:prstGeom prst="roundRect">
            <a:avLst>
              <a:gd name="adj" fmla="val 2162"/>
            </a:avLst>
          </a:prstGeom>
          <a:solidFill>
            <a:srgbClr val="131B36"/>
          </a:solidFill>
          <a:ln w="12700">
            <a:solidFill>
              <a:srgbClr val="2A376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1188720"/>
            <a:ext cx="3657600" cy="3657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FUTURE: LIKE UNIX make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1783080"/>
            <a:ext cx="3474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Dependency-aware builds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checks &amp; auto-recompile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config files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compilation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logs &amp; error reports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job management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4754880" y="1188720"/>
            <a:ext cx="3931920" cy="3383280"/>
          </a:xfrm>
          <a:prstGeom prst="roundRect">
            <a:avLst>
              <a:gd name="adj" fmla="val 2162"/>
            </a:avLst>
          </a:prstGeom>
          <a:solidFill>
            <a:srgbClr val="131B36"/>
          </a:solidFill>
          <a:ln w="12700">
            <a:solidFill>
              <a:srgbClr val="2A376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92040" y="1188720"/>
            <a:ext cx="3657600" cy="36576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98348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983480" y="173736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basic shell grew into an integrated build tool combining processes, signals, pipes, redirection, threads and mutex synchronization.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983480" y="3108960"/>
            <a:ext cx="3474720" cy="0"/>
          </a:xfrm>
          <a:prstGeom prst="line">
            <a:avLst/>
          </a:prstGeom>
          <a:noFill/>
          <a:ln w="12700">
            <a:solidFill>
              <a:srgbClr val="2A376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983480" y="3246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Akshay Chandra  |  Manoj  |  Balaji  |  Sai Charan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983480" y="35661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github.com/Akshay-2007-git/OS-Project-ShellBasedBuildAutomationTool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4983480" y="40233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Shell-Based Build Automation Tool</dc:title>
  <dc:subject>PptxGenJS Presentation</dc:subject>
  <dc:creator>PptxGenJS</dc:creator>
  <cp:lastModifiedBy>PptxGenJS</cp:lastModifiedBy>
  <cp:revision>1</cp:revision>
  <dcterms:created xsi:type="dcterms:W3CDTF">2026-10-08T03:32:07Z</dcterms:created>
  <dcterms:modified xsi:type="dcterms:W3CDTF">2026-10-08T03:32:07Z</dcterms:modified>
</cp:coreProperties>
</file>